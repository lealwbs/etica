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ABERTURA (Integrante 1):</a:t>
            </a:r>
          </a:p>
          <a:p>
            <a:r>
              <a:t>- Bom dia a todos e professor!</a:t>
            </a:r>
          </a:p>
          <a:p>
            <a:r>
              <a:t>- Nosso seminário hoje vai além de uma simples lista de designs feios na internet. Vamos investigar como a própria arquitetura de software é desenhada para violar a autonomia humana.</a:t>
            </a:r>
          </a:p>
          <a:p>
            <a:r>
              <a:t>- Vamos analisar o estudo histórico de Princeton (Mathur et al., 2019) com 11 mil lojas virtuais, o mercado bilionário de plugins manipulativos e os dilemas éticos que nós, futuros desenvolvedores, enfrentaremos.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INTERATIVO (Integrante 1):</a:t>
            </a:r>
          </a:p>
          <a:p>
            <a:r>
              <a:t>- Interaja com a sala! Peça para levantarem a mão nas 3 perguntas.</a:t>
            </a:r>
          </a:p>
          <a:p>
            <a:r>
              <a:t>- Destaque: 'Todos nós já caímos nisso. Isso não é falta de inteligência do usuário: é psicologia cognitiva e engenharia de software trabalhando juntas contra a nossa atenção'.</a:t>
            </a:r>
          </a:p>
          <a:p>
            <a:r>
              <a:t>- Conecte diretamente com a definição do próximo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 (Integrante 1):</a:t>
            </a:r>
          </a:p>
          <a:p>
            <a:r>
              <a:t>- Reforce a diferença: UI ruim é quando o desenvolvedor não soube posicionar o botão. Dark pattern é quando o botão foi deliberadamente escondido porque a empresa lucra com a sua confusão.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 (Integrante 1):</a:t>
            </a:r>
          </a:p>
          <a:p>
            <a:r>
              <a:t>- O artigo de Mathur et al. deixa isso explícito: nem todo recurso de compra por impulso é um dark pattern. O teste divisor de águas é: a interface está subvertendo a decisão com informações falsas ou designs assimétricos?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 (Integrante 1):</a:t>
            </a:r>
          </a:p>
          <a:p>
            <a:r>
              <a:t>- Apresente os números com orgulho metodológico: não foi um trabalho de faculdade olhando 10 sites; foram 11 mil lojas varridas por robôs com verificação científica de alto rigor no principal simpósio da ACM.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 (Integrante 1):</a:t>
            </a:r>
          </a:p>
          <a:p>
            <a:r>
              <a:t>- Destaque o ponto chave: 'Sites grandes enganam com mais frequência'. Por que? Porque para um site que fatura bilhões, um ganho de 0,5% na conversão gerado por engano representa milhões de dólares.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 (Integrante 1 passando a palavra para Integrante 2):</a:t>
            </a:r>
          </a:p>
          <a:p>
            <a:r>
              <a:t>- Esse slide é crucial para uma turma de computação: não é fofoca, é análise de código. O JavaScript estava forjando dados ao vivo no navegador do cliente.</a:t>
            </a:r>
          </a:p>
          <a:p>
            <a:r>
              <a:t>- Agora passo a palavra para o colega explicar a taxonomia dessas táticas.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 (Integrante 2):</a:t>
            </a:r>
          </a:p>
          <a:p>
            <a:r>
              <a:t>- Explicar as 3 primeiras dimensões: Assimetria (desigualdade de esforço), Ocultação (indução invisível) e Engano (mentira aberta).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 (Integrante 2):</a:t>
            </a:r>
          </a:p>
          <a:p>
            <a:r>
              <a:t>- Conecte a dimensão de Omissão com a experiência diária: quem nunca comprou ingresso para show ou cinema e no último segundo apareceu uma 'Taxa de Conveniência' de 25%?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 (Integrante 2):</a:t>
            </a:r>
          </a:p>
          <a:p>
            <a:r>
              <a:t>- Explique que o cérebro humano sob pressão de tempo desliga a reflexão lógica e opera por impulso.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 (Integrante 2):</a:t>
            </a:r>
          </a:p>
          <a:p>
            <a:r>
              <a:t>- O estudo achou 632 casos disso. É a técnica mais barata e mais eficaz para induzir compra impulsiva.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 (Integrante 2):</a:t>
            </a:r>
          </a:p>
          <a:p>
            <a:r>
              <a:t>- 'Sneak into basket' é proibido explicitamente pelo Código de Defesa do Consumidor brasileiro (venda casada).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 (Integrante 2 passando a palavra para o Momento Interativo):</a:t>
            </a:r>
          </a:p>
          <a:p>
            <a:r>
              <a:t>- Agora vamos pausar a explicação e fazer um teste rápido com a turma para ver se vocês conseguem identificar a linha tênue.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INTERATIVO (Integrante 2 &amp; Integrante 3):</a:t>
            </a:r>
          </a:p>
          <a:p>
            <a:r>
              <a:t>- Peça para a turma levantar a mão no Caso A e no Caso B.</a:t>
            </a:r>
          </a:p>
          <a:p>
            <a:r>
              <a:t>- Resposta para debate:</a:t>
            </a:r>
          </a:p>
          <a:p>
            <a:r>
              <a:t>  * Caso A: É Dark Pattern (Enganoso por omissão de contexto: o usuário acredita que o hotel vai lotar, quando na verdade apenas o lote do site acabou).</a:t>
            </a:r>
          </a:p>
          <a:p>
            <a:r>
              <a:t>  * Caso B: É Design Persuasivo legítimo (Não há mentira nem assimetria; o usuário recebe a regra de jogo clara e escolhe livremente se quer ou não gastar mais para ter o benefício).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 (Integrante 3):</a:t>
            </a:r>
          </a:p>
          <a:p>
            <a:r>
              <a:t>- Confirmshaming é uma das táticas mais tóxicas. Ela trata o usuário com desprezo e constrangimento.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 (Integrante 3):</a:t>
            </a:r>
          </a:p>
          <a:p>
            <a:r>
              <a:t>- O princípio da prova social é poderoso: na dúvida, nós olhamos o que os outros estão fazendo. Quando esse sinal é hackeado, perdemos o senso de referência.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 (Integrante 3):</a:t>
            </a:r>
          </a:p>
          <a:p>
            <a:r>
              <a:t>- Citar o caso da Amazon é imperdível: os próprios designers e executivos sabiam o que estavam fazendo, tanto que chamavam o fluxo de 'Ilíada'.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 (Integrante 3):</a:t>
            </a:r>
          </a:p>
          <a:p>
            <a:r>
              <a:t>- Mostre como a manipulação foi empacotada como produto de software (SaaS). Um modelo de negócios inteiro construído sobre a mentira.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 (Integrante 3 passando para Integrante 4):</a:t>
            </a:r>
          </a:p>
          <a:p>
            <a:r>
              <a:t>- Nossos cérebros evoluíram na savana para economizar energia. As interfaces usam nossa própria biologia contra nós.</a:t>
            </a:r>
          </a:p>
          <a:p>
            <a:r>
              <a:t>- Agora passo a palavra para o colega aprofundar nas questões filosóficas de Livre-Arbítrio e Paternalismo.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 (Integrante 4):</a:t>
            </a:r>
          </a:p>
          <a:p>
            <a:r>
              <a:t>- Esse slide eleva a apresentação para o nível filosófico que o professor de ética adora: Kant e o Livre-Arbítrio.</a:t>
            </a:r>
          </a:p>
          <a:p>
            <a:r>
              <a:t>- Se alguém coloca um cronômetro falso e você compra por medo, você agiu por livre-arbítrio ou foi manipulado?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 (Integrante 4):</a:t>
            </a:r>
          </a:p>
          <a:p>
            <a:r>
              <a:t>- Aqui está exatamente a resposta ao colega que sugeriu paternalismo e livre-arbítrio!</a:t>
            </a:r>
          </a:p>
          <a:p>
            <a:r>
              <a:t>- Conecte Thaler (Nudge) com Dark Patterns. Mostre que a mesma técnica que salva vidas (doação de órgãos) é corrompida no e-commerce para arrancar dinheiro.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 (Integrante 4):</a:t>
            </a:r>
          </a:p>
          <a:p>
            <a:r>
              <a:t>- Chame a atenção da sala: todos nós seremos desenvolvedores, designers ou gerentes de produto. O que faremos quando nos pedirem para programar uma mentira?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INTERATIVO (Integrante 4):</a:t>
            </a:r>
          </a:p>
          <a:p>
            <a:r>
              <a:t>- Abra para 2 colegas da sala responderem!</a:t>
            </a:r>
          </a:p>
          <a:p>
            <a:r>
              <a:t>- É um debate rico: na prática, muitos têm medo de serem demitidos (Opção A). O papel do bom profissional é saber articular a Opção C: mostrar que dark pattern destrói a marca, gera processos milionários no Procon e que a longo prazo clientes enganados não voltam.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 (Integrante 4):</a:t>
            </a:r>
          </a:p>
          <a:p>
            <a:r>
              <a:t>- Mostrar que a era do faroeste na web está acabando. Hoje, implementar dark pattern é passivo trabalhista e risco de conformidade grave.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FALA (Integrante 4):</a:t>
            </a:r>
          </a:p>
          <a:p>
            <a:r>
              <a:t>- Se a tecnologia criou o problema, a tecnologia também pode criar as defesas.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ENCERRAMENTO (Todos os 4 Integrantes):</a:t>
            </a:r>
          </a:p>
          <a:p>
            <a:r>
              <a:t>- 'Agradecemos a atenção de todos e abrimos agora para os comentários do professor e dos colegas!'</a:t>
            </a:r>
          </a:p>
          <a:p>
            <a:r>
              <a:t>- Usem as 3 perguntas do slide caso a sala fique em silêncio inicial para puxar o debate.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2377440" cy="36576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ÉTICA NA COMPUTAÇÃO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Segoe UI"/>
              </a:defRPr>
            </a:pPr>
            <a:r>
              <a:t>Manipulação Comportamental e Arquitetura de Interfaces</a:t>
            </a:r>
          </a:p>
          <a:p>
            <a:pPr>
              <a:spcBef>
                <a:spcPts val="1200"/>
              </a:spcBef>
              <a:defRPr sz="2200">
                <a:solidFill>
                  <a:srgbClr val="38BDF8"/>
                </a:solidFill>
                <a:latin typeface="Segoe UI"/>
              </a:defRPr>
            </a:pPr>
            <a:r>
              <a:t>Dark Patterns em Escala: Do Código à Coerção Digital</a:t>
            </a:r>
          </a:p>
          <a:p>
            <a:pPr>
              <a:spcBef>
                <a:spcPts val="1600"/>
              </a:spcBef>
              <a:defRPr sz="1400">
                <a:solidFill>
                  <a:srgbClr val="94A3B8"/>
                </a:solidFill>
                <a:latin typeface="Segoe UI"/>
              </a:defRPr>
            </a:pPr>
            <a:r>
              <a:t>Análise empírica do artigo de Mathur et al. (ACM CSCW, 2019) e o debate sobre paternalismo, livre-arbítrio e o dever do desenvolvedor.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120640"/>
            <a:ext cx="10728655" cy="1005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 bIns="274320"/>
          <a:lstStyle/>
          <a:p>
            <a:pPr algn="ctr"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Seminário de Ética na Computação • Duração: 40 minutos • Apresentação em 4 Blocos Interativos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2194560" cy="320040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MOMENTO INTERATIVO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Você Realmente Escolheu Livremente?</a:t>
            </a:r>
          </a:p>
          <a:p>
            <a:pPr>
              <a:spcBef>
                <a:spcPts val="600"/>
              </a:spcBef>
              <a:defRPr sz="1500">
                <a:solidFill>
                  <a:srgbClr val="94A3B8"/>
                </a:solidFill>
                <a:latin typeface="Segoe UI"/>
              </a:defRPr>
            </a:pPr>
            <a:r>
              <a:t>Momento de reflexão rápida com a turma antes de entrarmos nos dados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32918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 bIns="274320"/>
          <a:lstStyle/>
          <a:p>
            <a:pPr algn="ctr">
              <a:defRPr sz="1800" b="1">
                <a:solidFill>
                  <a:srgbClr val="F43F5E"/>
                </a:solidFill>
                <a:latin typeface="Segoe UI"/>
              </a:defRPr>
            </a:pPr>
            <a:r>
              <a:t>Pergunta 1: O Contador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Levante a mão quem já comprou algo online porque um contador dizia que a oferta acabava em 5 minutos?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Você sentiu que a decisão foi 100% racional ou sentiu uma ponta de ansiedade?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O que você sentiria se soubesse que aquele contador era falso?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103120"/>
            <a:ext cx="32918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 bIns="274320"/>
          <a:lstStyle/>
          <a:p>
            <a:pPr algn="ctr">
              <a:defRPr sz="1800" b="1">
                <a:solidFill>
                  <a:srgbClr val="F43F5E"/>
                </a:solidFill>
                <a:latin typeface="Segoe UI"/>
              </a:defRPr>
            </a:pPr>
            <a:r>
              <a:t>Pergunta 2: O Labirinto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Quem aqui já tentou cancelar uma assinatura de streaming ou academia e desistiu no meio do caminho?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Por que para assinar bastou 1 clique, mas para cancelar foram necessárias 5 telas e ligar no 0800?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Isso é descuido de design ou estratégia intencional?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103120"/>
            <a:ext cx="33832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 bIns="274320"/>
          <a:lstStyle/>
          <a:p>
            <a:pPr algn="ctr">
              <a:defRPr sz="1800" b="1">
                <a:solidFill>
                  <a:srgbClr val="F43F5E"/>
                </a:solidFill>
                <a:latin typeface="Segoe UI"/>
              </a:defRPr>
            </a:pPr>
            <a:r>
              <a:t>Pergunta 3: O Constrangimento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Quem já viu um pop-up dizendo: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"[SIM! Quero 50% de desconto]"</a:t>
            </a:r>
            <a:br/>
            <a:r>
              <a:t>"[NÃO, prefiro pagar o preço total]"?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Essa interface está te informando ou está te manipulando emocionalmente?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2194560" cy="3200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CONCEITUAÇÃO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O Que São Dark Patterns?</a:t>
            </a:r>
          </a:p>
          <a:p>
            <a:pPr>
              <a:spcBef>
                <a:spcPts val="600"/>
              </a:spcBef>
              <a:defRPr sz="1500">
                <a:solidFill>
                  <a:srgbClr val="94A3B8"/>
                </a:solidFill>
                <a:latin typeface="Segoe UI"/>
              </a:defRPr>
            </a:pPr>
            <a:r>
              <a:t>Interfaces desenhadas contra o melhor interesse de quem as utiliza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1206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 bIns="274320"/>
          <a:lstStyle/>
          <a:p>
            <a:pPr algn="ctr">
              <a:defRPr sz="1800" b="1">
                <a:solidFill>
                  <a:srgbClr val="38BDF8"/>
                </a:solidFill>
                <a:latin typeface="Segoe UI"/>
              </a:defRPr>
            </a:pPr>
            <a:r>
              <a:t>Origem &amp; Definição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Conceito cunhado em 2010 por Harry Brignull (Especialista em UX).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Definição Técnica: Escolhas de interface que beneficiam a plataforma ao coagir, direcionar ou enganar os usuários a tomar decisões involuntárias.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Não é erro de usabilidade: Um bug é acidental; um dark pattern é intencional, otimizado e planejado.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Foco no Lucro da Plataforma: Converte cliques em receita imediata sacrificando o bem-estar do usuário.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103120"/>
            <a:ext cx="52120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 bIns="274320"/>
          <a:lstStyle/>
          <a:p>
            <a:pPr algn="ctr">
              <a:defRPr sz="1800" b="1">
                <a:solidFill>
                  <a:srgbClr val="34D399"/>
                </a:solidFill>
                <a:latin typeface="Segoe UI"/>
              </a:defRPr>
            </a:pPr>
            <a:r>
              <a:t>Os 4 Danos Diretos ao Usuário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1. Prejuízo Financeiro: Compras não planejadas, assinaturas recorrentes indesejadas e taxas ocultas.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2. Captura Abusiva de Dados: Coleta forçada de consentimento e rastreamento invisível sob interfaces confusas.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3. Sequestro do Tempo: Dificuldade deliberada para realizar ações simples como exclusão de conta e cancelamento.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4. Violação da Autonomia: Quebra da tomada de decisão racional, gerando arrependimento pós-compra.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2194560" cy="32004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DISTINÇÃO ÉTICA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A Fronteira: Design Persuasivo vs. Padrão Enganoso</a:t>
            </a:r>
          </a:p>
          <a:p>
            <a:pPr>
              <a:spcBef>
                <a:spcPts val="600"/>
              </a:spcBef>
              <a:defRPr sz="1500">
                <a:solidFill>
                  <a:srgbClr val="94A3B8"/>
                </a:solidFill>
                <a:latin typeface="Segoe UI"/>
              </a:defRPr>
            </a:pPr>
            <a:r>
              <a:t>Onde termina o marketing legítimo e onde começa a manipulação predatória?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1206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 bIns="274320"/>
          <a:lstStyle/>
          <a:p>
            <a:pPr algn="ctr">
              <a:defRPr sz="1800" b="1">
                <a:solidFill>
                  <a:srgbClr val="34D399"/>
                </a:solidFill>
                <a:latin typeface="Segoe UI"/>
              </a:defRPr>
            </a:pPr>
            <a:r>
              <a:t>Design Persuasivo (Legítimo)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Objetivo: Ajudar o usuário a tomar uma decisão informada com base em informações reais.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Exemplo: Oferecer política transparente de devolução e troca em 30 dias.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Exemplo: Mostrar fotos em alta resolução de múltiplos ângulos do produto.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Exemplo: Oferecer desconto promocional real e transparente.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Características: Respeita o livre-arbítrio, fornece dados verdadeiros e mantém a simetria de escolha.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103120"/>
            <a:ext cx="52120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 bIns="274320"/>
          <a:lstStyle/>
          <a:p>
            <a:pPr algn="ctr">
              <a:defRPr sz="1800" b="1">
                <a:solidFill>
                  <a:srgbClr val="F43F5E"/>
                </a:solidFill>
                <a:latin typeface="Segoe UI"/>
              </a:defRPr>
            </a:pPr>
            <a:r>
              <a:t>Padrão Enganoso / Dark Pattern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Objetivo: Subverter a tomada de decisão do usuário em benefício exclusivo do lojista.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Exemplo: Cronômetro que diz 'oferta acaba em 10m', mas reseta no F5.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Exemplo: 'Apenas 1 item restante' gerado por número randômico.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Exemplo: Inserir garantia estendida no carrinho por padrão sem consentimento.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Características: Baseado em falsidade, assimetria, ocultação e sequestro de atenção.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2194560" cy="3200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METODOLOGIA CIENTÍFICA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O Estudo Base: Mathur et al. (ACM CSCW, 2019)</a:t>
            </a:r>
          </a:p>
          <a:p>
            <a:pPr>
              <a:spcBef>
                <a:spcPts val="600"/>
              </a:spcBef>
              <a:defRPr sz="1500">
                <a:solidFill>
                  <a:srgbClr val="94A3B8"/>
                </a:solidFill>
                <a:latin typeface="Segoe UI"/>
              </a:defRPr>
            </a:pPr>
            <a:r>
              <a:t>A primeira medição empírica automatizada em escala global na história da web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32918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 bIns="274320"/>
          <a:lstStyle/>
          <a:p>
            <a:pPr algn="ctr">
              <a:defRPr sz="1800" b="1">
                <a:solidFill>
                  <a:srgbClr val="38BDF8"/>
                </a:solidFill>
                <a:latin typeface="Segoe UI"/>
              </a:defRPr>
            </a:pPr>
            <a:r>
              <a:t>11.227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Lojas Virtuais Rastreadas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Cobertura dos maiores e-commerces mundiais do ranking Alexa.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Web crawler customizado baseado em Selenium e OpenWPM.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Navegação autônoma em larga escala simulando comportamento real.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103120"/>
            <a:ext cx="32918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 bIns="274320"/>
          <a:lstStyle/>
          <a:p>
            <a:pPr algn="ctr">
              <a:defRPr sz="1800" b="1">
                <a:solidFill>
                  <a:srgbClr val="38BDF8"/>
                </a:solidFill>
                <a:latin typeface="Segoe UI"/>
              </a:defRPr>
            </a:pPr>
            <a:r>
              <a:t>53.000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Páginas de Produtos &amp; Fluxos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O robô navegou por páginas de produtos, adicionou ao carrinho e seguiu ao checkout.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Extração de 13 milhões de segmentos textuais da interface.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Captura sistemática de screenshots e logs de rede (arquivos HAR).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103120"/>
            <a:ext cx="33832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 bIns="274320"/>
          <a:lstStyle/>
          <a:p>
            <a:pPr algn="ctr">
              <a:defRPr sz="1800" b="1">
                <a:solidFill>
                  <a:srgbClr val="FBBF24"/>
                </a:solidFill>
                <a:latin typeface="Segoe UI"/>
              </a:defRPr>
            </a:pPr>
            <a:r>
              <a:t>1.818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Dark Patterns Identificados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Agrupamento de texto por NLP (TF-IDF + Clustering Hierárquico).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Validação manual com concordância estatística rigorosa (Kappa de Cohen = 0,74).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Classificação em 7 categorias e 15 tipos de manipulação.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2194560" cy="3200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DADOS EMPÍRICOS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Os Resultados: Escala e o Mito dos Sites Pequenos</a:t>
            </a:r>
          </a:p>
          <a:p>
            <a:pPr>
              <a:spcBef>
                <a:spcPts val="600"/>
              </a:spcBef>
              <a:defRPr sz="1500">
                <a:solidFill>
                  <a:srgbClr val="94A3B8"/>
                </a:solidFill>
                <a:latin typeface="Segoe UI"/>
              </a:defRPr>
            </a:pPr>
            <a:r>
              <a:t>Descobertas surpreendentes sobre a infecção do e-commerce mundial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1206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 bIns="274320"/>
          <a:lstStyle/>
          <a:p>
            <a:pPr algn="ctr">
              <a:defRPr sz="1800" b="1">
                <a:solidFill>
                  <a:srgbClr val="38BDF8"/>
                </a:solidFill>
                <a:latin typeface="Segoe UI"/>
              </a:defRPr>
            </a:pPr>
            <a:r>
              <a:t>11,1% das Lojas Operam Dark Patterns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1.254 lojas online continham ao menos um dark pattern explícito.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Estimativa Conservadora: O robô só olhou páginas de produtos e checkouts em inglês. O número real é certamente muito maior.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Concentração em Sites Populares: Ao contrário do que se imaginava, os sites mais famosos e acessados tinham até 3x mais probabilidade de usar dark patterns do que sites pequenos.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Conclusão: Dark patterns não são desespero de lojas decadentes; são estratégia de gigantes para extrair receita máxima.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103120"/>
            <a:ext cx="52120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 bIns="274320"/>
          <a:lstStyle/>
          <a:p>
            <a:pPr algn="ctr">
              <a:defRPr sz="1800" b="1">
                <a:solidFill>
                  <a:srgbClr val="F43F5E"/>
                </a:solidFill>
                <a:latin typeface="Segoe UI"/>
              </a:defRPr>
            </a:pPr>
            <a:r>
              <a:t>A Terceirização da Fraude (Plugins)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Lojas não criam essas técnicas do zero.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22 empresas terceirizadas foram identificadas vendendo scripts prontos de manipulação.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Ecossistema de plugins para Shopify, WooCommerce, Magento e WordPress.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Um único plugin malicioso pode infectar dezenas de milhares de lojas com uma linha de código.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A desonestidade virou um modelo de negócios B2B escalável.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2194560" cy="32004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INSPEÇÃO DE CÓDIGO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A Engenharia Reversa da Fraude</a:t>
            </a:r>
          </a:p>
          <a:p>
            <a:pPr>
              <a:spcBef>
                <a:spcPts val="600"/>
              </a:spcBef>
              <a:defRPr sz="1500">
                <a:solidFill>
                  <a:srgbClr val="94A3B8"/>
                </a:solidFill>
                <a:latin typeface="Segoe UI"/>
              </a:defRPr>
            </a:pPr>
            <a:r>
              <a:t>Como os pesquisadores provaram cientificamente a mentira dentro do código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32918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 bIns="274320"/>
          <a:lstStyle/>
          <a:p>
            <a:pPr algn="ctr">
              <a:defRPr sz="1800" b="1">
                <a:solidFill>
                  <a:srgbClr val="34D399"/>
                </a:solidFill>
                <a:latin typeface="Segoe UI"/>
              </a:defRPr>
            </a:pPr>
            <a:r>
              <a:t>Cronômetros Reciclados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157 Casos em 140 Sites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O crawler revisitou lojas a cada 4h por 5 dias consecutivos e gravou vídeos.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Constatação: O cronômetro chegava a 00:00 e reiniciava magicamente.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Em outros casos, o tempo zerava e o preço promocional continuava ativo indefinidamente.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103120"/>
            <a:ext cx="32918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 bIns="274320"/>
          <a:lstStyle/>
          <a:p>
            <a:pPr algn="ctr">
              <a:defRPr sz="1800" b="1">
                <a:solidFill>
                  <a:srgbClr val="F43F5E"/>
                </a:solidFill>
                <a:latin typeface="Segoe UI"/>
              </a:defRPr>
            </a:pPr>
            <a:r>
              <a:t>Math.random() em Ação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Prova Social Forjada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Pop-ups: 'Ana de Belo Horizonte acabou de comprar este produto'.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Os pesquisadores inspecionaram o código JavaScript no frontend.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Descobriram funções randômicas gerando compradores e localidades a partir de listas estáticas.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103120"/>
            <a:ext cx="33832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 bIns="274320"/>
          <a:lstStyle/>
          <a:p>
            <a:pPr algn="ctr">
              <a:defRPr sz="1800" b="1">
                <a:solidFill>
                  <a:srgbClr val="FBBF24"/>
                </a:solidFill>
                <a:latin typeface="Segoe UI"/>
              </a:defRPr>
            </a:pPr>
            <a:r>
              <a:t>Estoque Falso Programado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Escassez Simulada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Mensagens: 'Restam apenas 3 unidades!'.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16 sites decrementavam o estoque em horários pré-programados por temporizador.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1 site gerava o estoque de forma totalmente randômica a cada carregamento de página.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2194560" cy="3200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TAXONOMIA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Como os Padrões Enganosos Subvertem a Decisão (1/2)</a:t>
            </a:r>
          </a:p>
          <a:p>
            <a:pPr>
              <a:spcBef>
                <a:spcPts val="600"/>
              </a:spcBef>
              <a:defRPr sz="1500">
                <a:solidFill>
                  <a:srgbClr val="94A3B8"/>
                </a:solidFill>
                <a:latin typeface="Segoe UI"/>
              </a:defRPr>
            </a:pPr>
            <a:r>
              <a:t>As 5 dimensões propostas na taxonomia de Mathur et 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32918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 bIns="274320"/>
          <a:lstStyle/>
          <a:p>
            <a:pPr algn="ctr">
              <a:defRPr sz="1800" b="1">
                <a:solidFill>
                  <a:srgbClr val="38BDF8"/>
                </a:solidFill>
                <a:latin typeface="Segoe UI"/>
              </a:defRPr>
            </a:pPr>
            <a:r>
              <a:t>1. Assimétrico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Pesos e esforços desiguais entre escolhas da interface.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O caminho que a empresa deseja é destacado e instantâneo (1 clique).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A opção do usuário é minimizada, escondida em tons de cinza ou requer múltiplos passos.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Exemplo: Banner de cookies com botão verde 'Aceitar Todos' e link invisível para 'Recusar'.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103120"/>
            <a:ext cx="32918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 bIns="274320"/>
          <a:lstStyle/>
          <a:p>
            <a:pPr algn="ctr">
              <a:defRPr sz="1800" b="1">
                <a:solidFill>
                  <a:srgbClr val="38BDF8"/>
                </a:solidFill>
                <a:latin typeface="Segoe UI"/>
              </a:defRPr>
            </a:pPr>
            <a:r>
              <a:t>2. Manipulação Oculta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O efeito da escolha do design é invisível para o usuário.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Direciona a decisão sem que a pessoa perceba que a interface foi desenhada para induzi-la.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Uso do Decoy Effect (Efeito Chamariz): Adiciona uma opção 'isca' apenas para tornar o plano caro mais atraente.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A pessoa acredita que decidiu por conta própria.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103120"/>
            <a:ext cx="33832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 bIns="274320"/>
          <a:lstStyle/>
          <a:p>
            <a:pPr algn="ctr">
              <a:defRPr sz="1800" b="1">
                <a:solidFill>
                  <a:srgbClr val="F43F5E"/>
                </a:solidFill>
                <a:latin typeface="Segoe UI"/>
              </a:defRPr>
            </a:pPr>
            <a:r>
              <a:t>3. Enganoso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Induz a falsas crenças por declarações mentirosas ou omissão.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Criação de prazos falsos ('promoção acaba hoje').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Informação de estoque artificial.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Se o usuário soubesse da verdade (que o preço é permanente), sua decisão de compra seria diferente.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2194560" cy="3200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TAXONOMIA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Como os Padrões Enganosos Subvertem a Decisão (2/2)</a:t>
            </a:r>
          </a:p>
          <a:p>
            <a:pPr>
              <a:spcBef>
                <a:spcPts val="600"/>
              </a:spcBef>
              <a:defRPr sz="1500">
                <a:solidFill>
                  <a:srgbClr val="94A3B8"/>
                </a:solidFill>
                <a:latin typeface="Segoe UI"/>
              </a:defRPr>
            </a:pPr>
            <a:r>
              <a:t>As dimensões de omissão e restrição de liberdade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1206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 bIns="274320"/>
          <a:lstStyle/>
          <a:p>
            <a:pPr algn="ctr">
              <a:defRPr sz="1800" b="1">
                <a:solidFill>
                  <a:srgbClr val="FBBF24"/>
                </a:solidFill>
                <a:latin typeface="Segoe UI"/>
              </a:defRPr>
            </a:pPr>
            <a:r>
              <a:t>4. Omissão de Informação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Obscurece ou atrasa a apresentação de dados essenciais para a decisão de compra.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O usuário só descobre o custo real após despender tempo e esforço consideráveis.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Taxas de serviço, frete surpresa e impostos adicionados na última tela do checkout.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Explora a Falácia do Custo Irrecuperável (Sunk Cost Fallacy): o usuário já digitou endereço, cartão e CPF, então aceita pagar a taxa a mais para não 'perder o tempo investido'.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103120"/>
            <a:ext cx="52120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 bIns="274320"/>
          <a:lstStyle/>
          <a:p>
            <a:pPr algn="ctr">
              <a:defRPr sz="1800" b="1">
                <a:solidFill>
                  <a:srgbClr val="F43F5E"/>
                </a:solidFill>
                <a:latin typeface="Segoe UI"/>
              </a:defRPr>
            </a:pPr>
            <a:r>
              <a:t>5. Restritivo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Limita artificialmente o conjunto de opções disponíveis.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Força o usuário a realizar uma ação desejada pelo sistema para poder concluir sua tarefa.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Obrigatoriedade de criar conta ou fazer login com redes sociais para ver o preço final.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Bloqueio da navegação com pop-ups que não possuem botão de fechar ('X') evidente.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Elimina alternativas legítimas do usuário.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2194560" cy="3200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CATEGORIAS EMPÍRICAS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Categoria 01: Urgência</a:t>
            </a:r>
          </a:p>
          <a:p>
            <a:pPr>
              <a:spcBef>
                <a:spcPts val="600"/>
              </a:spcBef>
              <a:defRPr sz="1500">
                <a:solidFill>
                  <a:srgbClr val="94A3B8"/>
                </a:solidFill>
                <a:latin typeface="Segoe UI"/>
              </a:defRPr>
            </a:pPr>
            <a:r>
              <a:t>Aceleração artificial do tempo de decisão para bloquear o pensamento crítico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1206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 bIns="274320"/>
          <a:lstStyle/>
          <a:p>
            <a:pPr algn="ctr">
              <a:defRPr sz="1800" b="1">
                <a:solidFill>
                  <a:srgbClr val="F43F5E"/>
                </a:solidFill>
                <a:latin typeface="Segoe UI"/>
              </a:defRPr>
            </a:pPr>
            <a:r>
              <a:t>Cronômetros Falsos (393 instâncias)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Contagem regressiva dinâmica indicando expiração iminente da oferta.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Mecanismo Enganoso: Quando o tempo zera, o relógio reinicia automaticamente ou a promoção continua ativa.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Impacto Psicológico: Ativa o estresse e o medo de perder (FOMO).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Impede que o usuário pesquise preços em sites concorrentes ou pondere sobre a real necessidade da compra.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103120"/>
            <a:ext cx="52120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 bIns="274320"/>
          <a:lstStyle/>
          <a:p>
            <a:pPr algn="ctr">
              <a:defRPr sz="1800" b="1">
                <a:solidFill>
                  <a:srgbClr val="FBBF24"/>
                </a:solidFill>
                <a:latin typeface="Segoe UI"/>
              </a:defRPr>
            </a:pPr>
            <a:r>
              <a:t>Mensagens de Tempo Limitado (88 instâncias)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Alertas estáticos: 'Promoção por tempo limitado!', 'Válido apenas hoje!'.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Omissão de Prazo: Não informam quando a promoção realmente acaba.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Permanência Disfarçada: O banner permanece exibido pelos mesmos dias ou meses.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Viés Explorado: Viés de Escassez Temporal (Tendência a supervalorizar o que está prestes a acabar).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2194560" cy="3200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CATEGORIAS EMPÍRICAS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Categoria 02: Escassez</a:t>
            </a:r>
          </a:p>
          <a:p>
            <a:pPr>
              <a:spcBef>
                <a:spcPts val="600"/>
              </a:spcBef>
              <a:defRPr sz="1500">
                <a:solidFill>
                  <a:srgbClr val="94A3B8"/>
                </a:solidFill>
                <a:latin typeface="Segoe UI"/>
              </a:defRPr>
            </a:pPr>
            <a:r>
              <a:t>Sinalização de estoque fictício ou demanda inflada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1206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 bIns="274320"/>
          <a:lstStyle/>
          <a:p>
            <a:pPr algn="ctr">
              <a:defRPr sz="1800" b="1">
                <a:solidFill>
                  <a:srgbClr val="F43F5E"/>
                </a:solidFill>
                <a:latin typeface="Segoe UI"/>
              </a:defRPr>
            </a:pPr>
            <a:r>
              <a:t>Alertas de Baixo Estoque (632 instâncias)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O tipo mais comum encontrado no estudo (presente em 581 lojas).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Notificações de 'Apenas 2 em estoque!' exibidas para praticamente todos os produtos do site.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Incerteza Induzida: A dúvida gera urgência e eleva o valor percebido do item.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Estoque Sintético: 17 sites com manipulação comprovada via código (redução por temporizador ou aleatória).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103120"/>
            <a:ext cx="52120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 bIns="274320"/>
          <a:lstStyle/>
          <a:p>
            <a:pPr algn="ctr">
              <a:defRPr sz="1800" b="1">
                <a:solidFill>
                  <a:srgbClr val="38BDF8"/>
                </a:solidFill>
                <a:latin typeface="Segoe UI"/>
              </a:defRPr>
            </a:pPr>
            <a:r>
              <a:t>Mensagens de Alta Demanda (47 instâncias)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Avisos: 'Alta procura!', 'Este item está sendo muito visualizado agora!'.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Alertas genéricos no carrinho que aparecem independente do produto adicionado.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Pressão Social Indireta: Induz a sensação de competição contra outros consumidores anônimos.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Viés da Escassez (Cialdini): Se outros querem e vai acabar, eu preciso garantir o meu agora.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2194560" cy="3200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CATEGORIAS EMPÍRICAS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Categoria 03: Inclusão Sorrateira (Sneaking)</a:t>
            </a:r>
          </a:p>
          <a:p>
            <a:pPr>
              <a:spcBef>
                <a:spcPts val="600"/>
              </a:spcBef>
              <a:defRPr sz="1500">
                <a:solidFill>
                  <a:srgbClr val="94A3B8"/>
                </a:solidFill>
                <a:latin typeface="Segoe UI"/>
              </a:defRPr>
            </a:pPr>
            <a:r>
              <a:t>Produtos e serviços empurrados sem consentimento explícito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1206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 bIns="274320"/>
          <a:lstStyle/>
          <a:p>
            <a:pPr algn="ctr">
              <a:defRPr sz="1800" b="1">
                <a:solidFill>
                  <a:srgbClr val="FBBF24"/>
                </a:solidFill>
                <a:latin typeface="Segoe UI"/>
              </a:defRPr>
            </a:pPr>
            <a:r>
              <a:t>Sneak into Basket (Itens Extras)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Novos produtos ou serviços entram no carrinho do usuário sem o seu consentimento explícito.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Exemplos clássicos: Seguros de viagem embutidos em passagens aéreas, garantia estendida ou acessórios.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Exploração do Padrão (Default Effect): A empresa aposta na desatenção do consumidor que segue avançando no fluxo sem conferir cada linha.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Fricção Reversa: O usuário tem o trabalho de desmarcar o que nunca pediu.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103120"/>
            <a:ext cx="52120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 bIns="274320"/>
          <a:lstStyle/>
          <a:p>
            <a:pPr algn="ctr">
              <a:defRPr sz="1800" b="1">
                <a:solidFill>
                  <a:srgbClr val="F43F5E"/>
                </a:solidFill>
                <a:latin typeface="Segoe UI"/>
              </a:defRPr>
            </a:pPr>
            <a:r>
              <a:t>Hidden Subscription (Assinatura Oculta)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Cobrança de taxas recorrentes sob a promessa de 'compra única' ou 'teste grátis'.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O usuário acredita que está pagando R$ 9,90 por um ebook ou teste de 7 dias.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Nas letras miúdas, autoriza uma cobrança mensal automática de R$ 99,00.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Violação Gravíssima de Consentimento: Falta de transparência contratual deliberada.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2194560" cy="3200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CATEGORIAS EMPÍRICAS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Categoria 03: Custos Ocultos (Hidden Costs)</a:t>
            </a:r>
          </a:p>
          <a:p>
            <a:pPr>
              <a:spcBef>
                <a:spcPts val="600"/>
              </a:spcBef>
              <a:defRPr sz="1500">
                <a:solidFill>
                  <a:srgbClr val="94A3B8"/>
                </a:solidFill>
                <a:latin typeface="Segoe UI"/>
              </a:defRPr>
            </a:pPr>
            <a:r>
              <a:t>Cobranças reveladas apenas no último segundo do checkout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1206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 bIns="274320"/>
          <a:lstStyle/>
          <a:p>
            <a:pPr algn="ctr">
              <a:defRPr sz="1800" b="1">
                <a:solidFill>
                  <a:srgbClr val="F43F5E"/>
                </a:solidFill>
                <a:latin typeface="Segoe UI"/>
              </a:defRPr>
            </a:pPr>
            <a:r>
              <a:t>O Mecanismo da Emboscada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Taxas significativas ('taxa de conveniência', 'manuseio', 'taxa administrativa') que não foram informadas na busca do produto.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Reveladas exclusivamente na tela final de pagamento.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O usuário já investiu 10 minutos preenchendo formulários, criando login e cadastrando o cartão.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A desistência gera frustração, então o usuário capitula e aceita o custo extra.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103120"/>
            <a:ext cx="52120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 bIns="274320"/>
          <a:lstStyle/>
          <a:p>
            <a:pPr algn="ctr">
              <a:defRPr sz="1800" b="1">
                <a:solidFill>
                  <a:srgbClr val="38BDF8"/>
                </a:solidFill>
                <a:latin typeface="Segoe UI"/>
              </a:defRPr>
            </a:pPr>
            <a:r>
              <a:t>O Caso dos Ingressos de Shows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Setor clássico de aplicação abusiva de custos ocultos.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Um ingresso anunciado por R$ 200,00 salta para R$ 260,00 no clique final por uma 'taxa de conveniência' digital.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O usuário enfrenta fila virtual com tempo de expiração de 5 minutos, impedindo qualquer contestação.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Combinação de 3 Dark Patterns simultâneos: Urgência + Custos Ocultos + Monopólio da interface.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2194560" cy="320040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MOMENTO INTERATIVO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Mini-Quiz: Persuasão Legítima ou Golpe?</a:t>
            </a:r>
          </a:p>
          <a:p>
            <a:pPr>
              <a:spcBef>
                <a:spcPts val="600"/>
              </a:spcBef>
              <a:defRPr sz="1500">
                <a:solidFill>
                  <a:srgbClr val="94A3B8"/>
                </a:solidFill>
                <a:latin typeface="Segoe UI"/>
              </a:defRPr>
            </a:pPr>
            <a:r>
              <a:t>Votação rápida com a turma para testar a percepção ética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1206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 bIns="274320"/>
          <a:lstStyle/>
          <a:p>
            <a:pPr algn="ctr">
              <a:defRPr sz="1800" b="1">
                <a:solidFill>
                  <a:srgbClr val="F43F5E"/>
                </a:solidFill>
                <a:latin typeface="Segoe UI"/>
              </a:defRPr>
            </a:pPr>
            <a:r>
              <a:t>CASO A: O Hotel na Praia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Cenário: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Um site de reservas exibe em vermelho: "Apenas 1 quarto disponível para suas datas!".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Ao ligar diretamente para a pousada, você descobre que há 8 quartos vazios.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O site alega: "Só tínhamos 1 quarto no nosso lote contratual com o hotel".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VOTAÇÃO DA TURMA: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👉 É marketing legítimo ou é Dark Pattern?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103120"/>
            <a:ext cx="52120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 bIns="274320"/>
          <a:lstStyle/>
          <a:p>
            <a:pPr algn="ctr">
              <a:defRPr sz="1800" b="1">
                <a:solidFill>
                  <a:srgbClr val="34D399"/>
                </a:solidFill>
                <a:latin typeface="Segoe UI"/>
              </a:defRPr>
            </a:pPr>
            <a:r>
              <a:t>CASO B: O Frete Grátis Progressivo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Cenário: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Você coloca um item de R$ 70 no carrinho. O site exibe uma barra colorida: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"Faltam R$ 30 para você ganhar Frete Grátis!".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Você adiciona um item desnecessário de R$ 35 para economizar R$ 15 de frete.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VOTAÇÃO DA TURMA: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👉 É manipulação enganosa ou é design persuasivo aceitável?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2194560" cy="3200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CATEGORIAS EMPÍRICAS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Categoria 04: Desvio de Atenção (Misdirection)</a:t>
            </a:r>
          </a:p>
          <a:p>
            <a:pPr>
              <a:spcBef>
                <a:spcPts val="600"/>
              </a:spcBef>
              <a:defRPr sz="1500">
                <a:solidFill>
                  <a:srgbClr val="94A3B8"/>
                </a:solidFill>
                <a:latin typeface="Segoe UI"/>
              </a:defRPr>
            </a:pPr>
            <a:r>
              <a:t>Manipulação visual e chantagem emocional para guiar a escolha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1206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 bIns="274320"/>
          <a:lstStyle/>
          <a:p>
            <a:pPr algn="ctr">
              <a:defRPr sz="1800" b="1">
                <a:solidFill>
                  <a:srgbClr val="F43F5E"/>
                </a:solidFill>
                <a:latin typeface="Segoe UI"/>
              </a:defRPr>
            </a:pPr>
            <a:r>
              <a:t>Confirmshaming (169 instâncias)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Uso de linguagem constrangedora para fazer o usuário se sentir culpado ao recusar uma oferta.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Opção 1: 'Sim, quero salvar o planeta e economizar!'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Opção 2: 'Não, eu odeio economizar e não me importo.'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Explora o Viés de Enquadramento (Framing Effect): manipula a autoimagem do usuário para coagir o consentimento.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103120"/>
            <a:ext cx="52120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 bIns="274320"/>
          <a:lstStyle/>
          <a:p>
            <a:pPr algn="ctr">
              <a:defRPr sz="1800" b="1">
                <a:solidFill>
                  <a:srgbClr val="FBBF24"/>
                </a:solidFill>
                <a:latin typeface="Segoe UI"/>
              </a:defRPr>
            </a:pPr>
            <a:r>
              <a:t>Interferência Visual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Uso deliberado de cores, contrastes e tipografia para ocultar rotas de saída.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Botão de 'Concordar': Verde vibrante, grande, elevado, no centro da visão.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Botão de 'Recusar': Texto cinza claro em fundo branco, fonte de 9px, parecendo texto corrido sem link.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Violação direta das diretrizes de Acessibilidade e Usabilidade (WCAG).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2194560" cy="3200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CATEGORIAS EMPÍRICAS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Categoria 04: Prova Social Forjada (Social Proof)</a:t>
            </a:r>
          </a:p>
          <a:p>
            <a:pPr>
              <a:spcBef>
                <a:spcPts val="600"/>
              </a:spcBef>
              <a:defRPr sz="1500">
                <a:solidFill>
                  <a:srgbClr val="94A3B8"/>
                </a:solidFill>
                <a:latin typeface="Segoe UI"/>
              </a:defRPr>
            </a:pPr>
            <a:r>
              <a:t>Notificações automáticas que simulam multidões imaginárias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1206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 bIns="274320"/>
          <a:lstStyle/>
          <a:p>
            <a:pPr algn="ctr">
              <a:defRPr sz="1800" b="1">
                <a:solidFill>
                  <a:srgbClr val="F43F5E"/>
                </a:solidFill>
                <a:latin typeface="Segoe UI"/>
              </a:defRPr>
            </a:pPr>
            <a:r>
              <a:t>Activity Messages (313 instâncias)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Notificações pop-up no canto da tela: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  'João de Curitiba acabou de comprar este tênis'.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  '42 pessoas estão visualizando este produto agora'.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Efeito Manada (Bandwagon Effect): Tendência biológica humana de confiar e imitar a escolha do grupo.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O estudo descobriu que dezenas dessas notificações eram geradas por código estático, sem qualquer comprador real.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103120"/>
            <a:ext cx="52120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 bIns="274320"/>
          <a:lstStyle/>
          <a:p>
            <a:pPr algn="ctr">
              <a:defRPr sz="1800" b="1">
                <a:solidFill>
                  <a:srgbClr val="38BDF8"/>
                </a:solidFill>
                <a:latin typeface="Segoe UI"/>
              </a:defRPr>
            </a:pPr>
            <a:r>
              <a:t>Depoimentos Clonados &amp; Forjados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Testemunhos e avaliações 5 estrelas cuja procedência é fictícia ou clonada de sites concorrentes.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Fotos de perfil extraídas de bancos de imagens gratuitos ou geradas por IA (StyleGAN).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Destruição da Confiança Digital: O usuário toma decisões financeiras com base em validações sociais fabricadas.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2194560" cy="320040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CATEGORIAS EMPÍRICAS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Categoria 05: Obstrução (O Padrão 'Roach Motel')</a:t>
            </a:r>
          </a:p>
          <a:p>
            <a:pPr>
              <a:spcBef>
                <a:spcPts val="600"/>
              </a:spcBef>
              <a:defRPr sz="1500">
                <a:solidFill>
                  <a:srgbClr val="94A3B8"/>
                </a:solidFill>
                <a:latin typeface="Segoe UI"/>
              </a:defRPr>
            </a:pPr>
            <a:r>
              <a:t>Fácil de entrar, impossível de sair: A armadilha do cancelamento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1206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 bIns="274320"/>
          <a:lstStyle/>
          <a:p>
            <a:pPr algn="ctr">
              <a:defRPr sz="1800" b="1">
                <a:solidFill>
                  <a:srgbClr val="F43F5E"/>
                </a:solidFill>
                <a:latin typeface="Segoe UI"/>
              </a:defRPr>
            </a:pPr>
            <a:r>
              <a:t>A Teoria do 'Roach Motel'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Nome inspirado nas armadilhas de barata: o inseto entra facilmente atraído pelo cheiro, mas não consegue escapar.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Inscrição / Assinatura: 1 clique, sem senhas complicadas, botão destacado.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Cancelamento: Labirinto deliberado. Requer navegação profunda em configurações obscuras, formulários complexos ou contato telefônico obrigatório em horário comercial.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103120"/>
            <a:ext cx="52120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 bIns="274320"/>
          <a:lstStyle/>
          <a:p>
            <a:pPr algn="ctr">
              <a:defRPr sz="1800" b="1">
                <a:solidFill>
                  <a:srgbClr val="FBBF24"/>
                </a:solidFill>
                <a:latin typeface="Segoe UI"/>
              </a:defRPr>
            </a:pPr>
            <a:r>
              <a:t>O Caso FTC vs. Amazon ('Iliad Flow')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Ação histórica da Federal Trade Commission (EUA) contra a Amazon em 2023.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Documentos internos revelaram que a Amazon batizou o fluxo de cancelamento do Prime de 'Iliad' (em alusão à Ilíada de Homero, uma jornada épica e árdua).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O usuário enfrentava 6 páginas, dezenas de cliques, ofertas confusas e botões invertidos para conseguir cancelar.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Multa e processo bilionário por manipular milhões de consumidores.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2194560" cy="3200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MERCADO DE SOFTWARE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Dark Patterns as a Service (DPaaS)</a:t>
            </a:r>
          </a:p>
          <a:p>
            <a:pPr>
              <a:spcBef>
                <a:spcPts val="600"/>
              </a:spcBef>
              <a:defRPr sz="1500">
                <a:solidFill>
                  <a:srgbClr val="94A3B8"/>
                </a:solidFill>
                <a:latin typeface="Segoe UI"/>
              </a:defRPr>
            </a:pPr>
            <a:r>
              <a:t>A industrialização da manipulação em um ecossistema B2B de plugins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1206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 bIns="274320"/>
          <a:lstStyle/>
          <a:p>
            <a:pPr algn="ctr">
              <a:defRPr sz="1800" b="1">
                <a:solidFill>
                  <a:srgbClr val="38BDF8"/>
                </a:solidFill>
                <a:latin typeface="Segoe UI"/>
              </a:defRPr>
            </a:pPr>
            <a:r>
              <a:t>O Mercado das 22 Empresas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O estudo mapeou 22 empresas especializadas em comercializar scripts de manipulação prontos.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Integrações nativas com Shopify, WooCommerce, Magento e PrestaShop.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O lojista não precisa de programadores: ele paga uma mensalidade de US$ 20 e ativa contadores falsos e escassez inventada.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Popularização da manipulação: pequenos lojistas adotando as táticas predatórias das grandes corporações.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103120"/>
            <a:ext cx="52120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 bIns="274320"/>
          <a:lstStyle/>
          <a:p>
            <a:pPr algn="ctr">
              <a:defRPr sz="1800" b="1">
                <a:solidFill>
                  <a:srgbClr val="F43F5E"/>
                </a:solidFill>
                <a:latin typeface="Segoe UI"/>
              </a:defRPr>
            </a:pPr>
            <a:r>
              <a:t>O Escândalo 'Fake it till you make it'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Desonestidade explícita como marketing: O plugin *Boost* tinha uma página anunciando a criação de pedidos falsos para atrair compradores.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O plugin *WooCommerce Notification* prometia explicitamente criar pedidos simulados com nomes inventados.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Reação da Plataforma: A Shopify baniu temporariamente o aplicativo mais popular do estudo (*Beeketing*, presente em 406 lojas) após a repercussão pública.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Dilema das App Stores: Até que ponto lojas de aplicativos são cúmplices das ferramentas que hospedam?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2194560" cy="3200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CIÊNCIAS COGNITIVAS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A Psicologia do Design: Por Que Caímos Nisso?</a:t>
            </a:r>
          </a:p>
          <a:p>
            <a:pPr>
              <a:spcBef>
                <a:spcPts val="600"/>
              </a:spcBef>
              <a:defRPr sz="1500">
                <a:solidFill>
                  <a:srgbClr val="94A3B8"/>
                </a:solidFill>
                <a:latin typeface="Segoe UI"/>
              </a:defRPr>
            </a:pPr>
            <a:r>
              <a:t>Como interfaces exploram os atalhos evolutivos do cérebro humano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1206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 bIns="274320"/>
          <a:lstStyle/>
          <a:p>
            <a:pPr algn="ctr">
              <a:defRPr sz="1800" b="1">
                <a:solidFill>
                  <a:srgbClr val="38BDF8"/>
                </a:solidFill>
                <a:latin typeface="Segoe UI"/>
              </a:defRPr>
            </a:pPr>
            <a:r>
              <a:t>Sistema 1 vs. Sistema 2 (Kahneman)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Daniel Kahneman (Rápido e Devagar - Prêmio Nobel):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Sistema 1 (Rápido): Automático, intuitivo, emocional, gasta pouca energia.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Sistema 2 (Lento): Reflexivo, analítico, exige concentração e esforço mental.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A Estratégia do Dark Pattern: Sobrecaregar o usuário com urgência e escassez para forçar o Sistema 1 a assumir o controle e bloquear o Sistema 2.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103120"/>
            <a:ext cx="52120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 bIns="274320"/>
          <a:lstStyle/>
          <a:p>
            <a:pPr algn="ctr">
              <a:defRPr sz="1800" b="1">
                <a:solidFill>
                  <a:srgbClr val="FBBF24"/>
                </a:solidFill>
                <a:latin typeface="Segoe UI"/>
              </a:defRPr>
            </a:pPr>
            <a:r>
              <a:t>Os Principais Vieses Explorados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1. Efeito Ancoragem: Fixar o preço original inflado para fazer o desconto parecer imperdível.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2. Efeito Padrão (Default Effect): Inércia humana de não alterar opções pré-marcadas.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3. Falácia do Custo Irrecuperável: Dificuldade de abandonar uma compra após preencher muitas etapas.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4. Aversão à Perda (Loss Aversion): A dor da perda é 2x mais intensa que o prazer do ganho.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2194560" cy="320040"/>
          </a:xfrm>
          <a:prstGeom prst="round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DEBATE FILOSÓFICO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O Mito do Livre-Arbítrio Digital</a:t>
            </a:r>
          </a:p>
          <a:p>
            <a:pPr>
              <a:spcBef>
                <a:spcPts val="600"/>
              </a:spcBef>
              <a:defRPr sz="1500">
                <a:solidFill>
                  <a:srgbClr val="94A3B8"/>
                </a:solidFill>
                <a:latin typeface="Segoe UI"/>
              </a:defRPr>
            </a:pPr>
            <a:r>
              <a:t>A autonomia humana resiste a uma arquitetura desenhada para coagir?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1206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 bIns="274320"/>
          <a:lstStyle/>
          <a:p>
            <a:pPr algn="ctr">
              <a:defRPr sz="1800" b="1">
                <a:solidFill>
                  <a:srgbClr val="C084FC"/>
                </a:solidFill>
                <a:latin typeface="Segoe UI"/>
              </a:defRPr>
            </a:pPr>
            <a:r>
              <a:t>A Ilusão da Escolha Autônoma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O usuário acredita que tomou uma decisão livre ao clicar em 'Comprar'.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Mas essa decisão ocorreu sob condições viciadas: tempo artificial, estoque forjado, opções desiguais e indução de medo.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Filosofia da Ação: Uma escolha só é verdadeiramente autônoma se o indivíduo possui: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  1. Acesso à informação fidedigna;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  2. Tempo hábil para deliberar;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  3. Alternativas simétricas sem punição psicológica.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103120"/>
            <a:ext cx="52120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 bIns="274320"/>
          <a:lstStyle/>
          <a:p>
            <a:pPr algn="ctr">
              <a:defRPr sz="1800" b="1">
                <a:solidFill>
                  <a:srgbClr val="F43F5E"/>
                </a:solidFill>
                <a:latin typeface="Segoe UI"/>
              </a:defRPr>
            </a:pPr>
            <a:r>
              <a:t>O Imperativo Categórico de Kant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Immanuel Kant (Fundamentação da Metafísica dos Costumes):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Princípio Moral Fundamental: 'Aja de tal modo que use a humanidade sempre como um fim e nunca meramente como um meio'.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A Violação pelo Dark Pattern: O usuário deixa de ser tratado como sujeito de dignidade e passa a ser tratado como mero instrumento de extração de valor financeiro e métricas de conversão.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Manipulação algorítmica é, em essência, a desumanização do usuário.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2194560" cy="320040"/>
          </a:xfrm>
          <a:prstGeom prst="round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DEBATE FILOSÓFICO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Paternalismo Libertário vs. Paternalismo Predatório</a:t>
            </a:r>
          </a:p>
          <a:p>
            <a:pPr>
              <a:spcBef>
                <a:spcPts val="600"/>
              </a:spcBef>
              <a:defRPr sz="1500">
                <a:solidFill>
                  <a:srgbClr val="94A3B8"/>
                </a:solidFill>
                <a:latin typeface="Segoe UI"/>
              </a:defRPr>
            </a:pPr>
            <a:r>
              <a:t>De Richard Thaler e o conceito de 'Nudge' ao 'Sludge' corporativo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1206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 bIns="274320"/>
          <a:lstStyle/>
          <a:p>
            <a:pPr algn="ctr">
              <a:defRPr sz="1800" b="1">
                <a:solidFill>
                  <a:srgbClr val="34D399"/>
                </a:solidFill>
                <a:latin typeface="Segoe UI"/>
              </a:defRPr>
            </a:pPr>
            <a:r>
              <a:t>Paternalismo Libertário (Nudge)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Richard Thaler &amp; Cass Sunstein (Livro Nudge - Prêmio Nobel 2017):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Premissa: Toda interface possui uma arquitetura de escolha neutra. É impossível não escolher um design padrão.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A Proposta Ética: Usar a arquitetura de escolha para 'empurrar' o cidadão para o que é melhor para ELE MESMO.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Exemplos Positivos: Deixar doação de órgãos ativada por padrão, poupança automática para aposentadoria, sugerir senhas fortes.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Liberdade Preservada: O usuário pode recusar a qualquer momento com esforço zero.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103120"/>
            <a:ext cx="52120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 bIns="274320"/>
          <a:lstStyle/>
          <a:p>
            <a:pPr algn="ctr">
              <a:defRPr sz="1800" b="1">
                <a:solidFill>
                  <a:srgbClr val="F43F5E"/>
                </a:solidFill>
                <a:latin typeface="Segoe UI"/>
              </a:defRPr>
            </a:pPr>
            <a:r>
              <a:t>A Corrupção: Sludge &amp; Dark Patterns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O que acontece quando o poder da arquitetura de escolha é capturado pelo lucro da empresa?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Surge o Paternalismo Predatório / Sludge: A interface decide o que é melhor para a EMPRESA e empurra o usuário para o prejuízo.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O 'Nudge' do Bem vira a 'Armadilha' do Mal.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A Pergunta Ética Crucial: O Estado deve ser paternalista e proibir certos designs em lei para proteger o cidadão, ou isso fere a liberdade do mercado?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2194560" cy="32004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RESPONSABILIDADE PROFISSIONAL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A Responsabilidade Ética do Desenvolvedor e Designer</a:t>
            </a:r>
          </a:p>
          <a:p>
            <a:pPr>
              <a:spcBef>
                <a:spcPts val="600"/>
              </a:spcBef>
              <a:defRPr sz="1500">
                <a:solidFill>
                  <a:srgbClr val="94A3B8"/>
                </a:solidFill>
                <a:latin typeface="Segoe UI"/>
              </a:defRPr>
            </a:pPr>
            <a:r>
              <a:t>A cultura de CRO e a defesa moral: 'Eu só cumpri a tarefa do Jira'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1206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 bIns="274320"/>
          <a:lstStyle/>
          <a:p>
            <a:pPr algn="ctr">
              <a:defRPr sz="1800" b="1">
                <a:solidFill>
                  <a:srgbClr val="FBBF24"/>
                </a:solidFill>
                <a:latin typeface="Segoe UI"/>
              </a:defRPr>
            </a:pPr>
            <a:r>
              <a:t>A Ditadura das Métricas (CRO &amp; OKRs)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Em muitas empresas de tecnologia, o sucesso é medido exclusivamente por taxa de conversão (CRO), cliques e faturamento trimestral.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Testes A/B são utilizados para otimizar enganos: 'A variante que oculta o botão de cancelar aumentou o faturamento em 12%'.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Ausência de Métricas Éticas: Quase nenhuma empresa mede arrependimento do usuário, sensação de engodo ou erosão de confiança a longo prazo.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103120"/>
            <a:ext cx="52120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 bIns="274320"/>
          <a:lstStyle/>
          <a:p>
            <a:pPr algn="ctr">
              <a:defRPr sz="1800" b="1">
                <a:solidFill>
                  <a:srgbClr val="F43F5E"/>
                </a:solidFill>
                <a:latin typeface="Segoe UI"/>
              </a:defRPr>
            </a:pPr>
            <a:r>
              <a:t>O Código de Ética Profissional (ACM &amp; SBC)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Código de Ética da ACM (Association for Computing Machinery):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  - Artigo 1.2: 'Contribuir para a sociedade e evitar causar dano' (Avoid Harm).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  - Artigo 1.4: 'Ser justo e tomar ações para não discriminar nem enganar'.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A Falácia de Nuremberg no Software: Dizer que 'o chefe mandou' não isenta o programador de responsabilidade.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Desenvolvedores não são digitadores de código; somos os engenheiros do tecido social digital.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2194560" cy="320040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MOMENTO INTERATIVO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Dilema na Sprint: O Que Você Faria?</a:t>
            </a:r>
          </a:p>
          <a:p>
            <a:pPr>
              <a:spcBef>
                <a:spcPts val="600"/>
              </a:spcBef>
              <a:defRPr sz="1500">
                <a:solidFill>
                  <a:srgbClr val="94A3B8"/>
                </a:solidFill>
                <a:latin typeface="Segoe UI"/>
              </a:defRPr>
            </a:pPr>
            <a:r>
              <a:t>Simulação de uma reunião real de desenvolvimento com a turma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1206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 bIns="274320"/>
          <a:lstStyle/>
          <a:p>
            <a:pPr algn="ctr">
              <a:defRPr sz="1800" b="1">
                <a:solidFill>
                  <a:srgbClr val="F43F5E"/>
                </a:solidFill>
                <a:latin typeface="Segoe UI"/>
              </a:defRPr>
            </a:pPr>
            <a:r>
              <a:t>O Cenário da Vida Real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Você é um Desenvolvedor Frontend recém-contratado.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Falta 1 semana para a Black Friday.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O Gerente de Produto (PM) abre uma task urgente no Jira: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"Precisamos implementar um contador regressivo na página de checkout. Se o cliente atualizar a página, o contador deve reiniciar em 15 minutos. Nossos testes A/B mostram que isso aumenta a conversão em 18% e garante o bônus de final de ano da equipe."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103120"/>
            <a:ext cx="52120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 bIns="274320"/>
          <a:lstStyle/>
          <a:p>
            <a:pPr algn="ctr">
              <a:defRPr sz="1800" b="1">
                <a:solidFill>
                  <a:srgbClr val="38BDF8"/>
                </a:solidFill>
                <a:latin typeface="Segoe UI"/>
              </a:defRPr>
            </a:pPr>
            <a:r>
              <a:t>O Que Você Responde na Reunião?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Opção A: Programa o script calado. Afinal, você precisa do emprego e a responsabilidade legal é da empresa.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Opção B: Recusa frontalmente, dizendo que é contra seus princípios éticos e viola o Código de Defesa do Consumidor.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Opção C: Propõe uma alternativa técnica e ética: cronômetro real com estoques transparentes, alertando sobre os riscos de processo e danos à marca.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👉 PERGUNTA PARA A SALA: Quem escolheria A, B ou C? E por quê?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2194560" cy="3200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MARCO LEGAL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O Cenário Jurídico: Da Teoria à Multa</a:t>
            </a:r>
          </a:p>
          <a:p>
            <a:pPr>
              <a:spcBef>
                <a:spcPts val="600"/>
              </a:spcBef>
              <a:defRPr sz="1500">
                <a:solidFill>
                  <a:srgbClr val="94A3B8"/>
                </a:solidFill>
                <a:latin typeface="Segoe UI"/>
              </a:defRPr>
            </a:pPr>
            <a:r>
              <a:t>Como as leis mundiais estão criminalizando e punindo os padrões enganosos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1206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 bIns="274320"/>
          <a:lstStyle/>
          <a:p>
            <a:pPr algn="ctr">
              <a:defRPr sz="1800" b="1">
                <a:solidFill>
                  <a:srgbClr val="38BDF8"/>
                </a:solidFill>
                <a:latin typeface="Segoe UI"/>
              </a:defRPr>
            </a:pPr>
            <a:r>
              <a:t>No Brasil: CDC e LGPD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Código de Defesa do Consumidor (CDC):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  - Art. 37: Proíbe expressamente publicidade enganosa ou abusiva.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  - Art. 39: Veda venda casada (Sneak into basket) e exigência de vantagens manifestamente excessivas.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Lei Geral de Proteção de Dados (LGPD):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  - Art. 8º: O consentimento deve ser 'livre, informado e inequívoco'.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  - Banners de cookies com botões assimétricos tornam o consentimento juridicamente nulo.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103120"/>
            <a:ext cx="52120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 bIns="274320"/>
          <a:lstStyle/>
          <a:p>
            <a:pPr algn="ctr">
              <a:defRPr sz="1800" b="1">
                <a:solidFill>
                  <a:srgbClr val="F43F5E"/>
                </a:solidFill>
                <a:latin typeface="Segoe UI"/>
              </a:defRPr>
            </a:pPr>
            <a:r>
              <a:t>No Mundo: FTC, GDPR e DSA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Estados Unidos (FTC): Acordos e multas históricas contra Amazon, Epic Games (Fortnite - US$ 520 milhões por compras não autorizadas de crianças).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União Europeia (Digital Services Act - DSA 2023):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  - Artigo 25: Proíbe expressamente plataformas online de desenhar interfaces que 'enganem, manipulem ou prejudiquem materialmente a capacidade dos usuários de tomar decisões livres'.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  - Multas que chegam a 6% do faturamento global anual da empresa.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2194560" cy="32004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SOLUÇÕES TÉCNICAS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Contra-medidas Técnicas: A Tecnologia Reativa</a:t>
            </a:r>
          </a:p>
          <a:p>
            <a:pPr>
              <a:spcBef>
                <a:spcPts val="600"/>
              </a:spcBef>
              <a:defRPr sz="1500">
                <a:solidFill>
                  <a:srgbClr val="94A3B8"/>
                </a:solidFill>
                <a:latin typeface="Segoe UI"/>
              </a:defRPr>
            </a:pPr>
            <a:r>
              <a:t>Como engenheiros e pesquisadores estão construindo defesas contra o design predador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51206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 bIns="274320"/>
          <a:lstStyle/>
          <a:p>
            <a:pPr algn="ctr">
              <a:defRPr sz="1800" b="1">
                <a:solidFill>
                  <a:srgbClr val="34D399"/>
                </a:solidFill>
                <a:latin typeface="Segoe UI"/>
              </a:defRPr>
            </a:pPr>
            <a:r>
              <a:t>Ferramentas de Defesa do Usuário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AdBlockers de Dark Patterns: Extensões de código aberto mantidas por comunidades que neutralizam pop-ups de escassez e timers falsos.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Extensões de Auditoria Visual: Identificam desvios de contraste e botões ocultos em tempo real.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IA como Escudo Cognitivo: Agentes de IA locais no navegador que alertam: 'Atenção: Este site foi flagrado usando cronômetros cíclicos'.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Bancos de Dados Públicos: Sites colaborativos de denúncia (como darkpatterns.org e hall da vergonha).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103120"/>
            <a:ext cx="52120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 bIns="274320"/>
          <a:lstStyle/>
          <a:p>
            <a:pPr algn="ctr">
              <a:defRPr sz="1800" b="1">
                <a:solidFill>
                  <a:srgbClr val="38BDF8"/>
                </a:solidFill>
                <a:latin typeface="Segoe UI"/>
              </a:defRPr>
            </a:pPr>
            <a:r>
              <a:t>O Papel dos Navegadores &amp; Plataformas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Padrões Nativos no Browser: Assim como navegadores bloquearam pop-ups nos anos 2000, browsers podem exigir simetria de botões e neutralizar scripts fraudulentos.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Auditoria Contínua em App Stores: Banimento automático de plugins que violam políticas de transparência (como o caso Beeketing no Shopify).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• Design System Ético: Incorporação de testes de fricção e ética nos pipelines de CI/CD antes do deploy.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2194560" cy="32004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F172A"/>
                </a:solidFill>
                <a:latin typeface="Arial"/>
              </a:defRPr>
            </a:pPr>
            <a:r>
              <a:t>CONCLUSÃO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Debate Aberto &amp; Perguntas</a:t>
            </a:r>
          </a:p>
          <a:p>
            <a:pPr>
              <a:spcBef>
                <a:spcPts val="600"/>
              </a:spcBef>
              <a:defRPr sz="1500">
                <a:solidFill>
                  <a:srgbClr val="94A3B8"/>
                </a:solidFill>
                <a:latin typeface="Segoe UI"/>
              </a:defRPr>
            </a:pPr>
            <a:r>
              <a:t>Questões para reflexão coletiva com o professor e os colegas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32918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 bIns="274320"/>
          <a:lstStyle/>
          <a:p>
            <a:pPr algn="ctr">
              <a:defRPr sz="1800" b="1">
                <a:solidFill>
                  <a:srgbClr val="FBBF24"/>
                </a:solidFill>
                <a:latin typeface="Segoe UI"/>
              </a:defRPr>
            </a:pPr>
            <a:r>
              <a:t>Questão 1: Liberdade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O usuário tem a obrigação moral de ser atento ou o sistema tem a obrigação ética de não ser predatório?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Até que ponto culpar o usuário não é culpabilizar a vítima da manipulação cognitiva?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103120"/>
            <a:ext cx="329184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 bIns="274320"/>
          <a:lstStyle/>
          <a:p>
            <a:pPr algn="ctr">
              <a:defRPr sz="1800" b="1">
                <a:solidFill>
                  <a:srgbClr val="38BDF8"/>
                </a:solidFill>
                <a:latin typeface="Segoe UI"/>
              </a:defRPr>
            </a:pPr>
            <a:r>
              <a:t>Questão 2: IA &amp; Futuro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Uma IA treinada para maximizar tempo de tela ou faturamento inevitavelmente criará Dark Patterns ainda mais refinados se não for freada?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Como auditar algoritmos de personalização em tempo real?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103120"/>
            <a:ext cx="33832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rIns="274320" tIns="274320" bIns="274320"/>
          <a:lstStyle/>
          <a:p>
            <a:pPr algn="ctr">
              <a:defRPr sz="1800" b="1">
                <a:solidFill>
                  <a:srgbClr val="F43F5E"/>
                </a:solidFill>
                <a:latin typeface="Segoe UI"/>
              </a:defRPr>
            </a:pPr>
            <a:r>
              <a:t>Questão 3: O Nosso Papel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Qual é a linha vermelha que você, como profissional de computação, jamais cruzaria em uma interface?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  <a:latin typeface="Segoe UI"/>
              </a:defRPr>
            </a:pPr>
            <a:r>
              <a:t>Estamos construindo ferramentas que libertam as pessoas ou prisões cognitivas digitais?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